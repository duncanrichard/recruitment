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59234a94471441e" Type="http://schemas.openxmlformats.org/officeDocument/2006/relationships/extended-properties" Target="docProps/app.xml"/><Relationship Id="R4d5f36b6e7cb49d6" Type="http://schemas.openxmlformats.org/officeDocument/2006/relationships/officeDocument" Target="ppt/presentation.xml"/><Relationship Id="Rcb35ec27826742c1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9e2366aaeb4d4b"/>
  </p:sldMasterIdLst>
  <p:notesMasterIdLst>
    <p:notesMasterId xmlns:r="http://schemas.openxmlformats.org/officeDocument/2006/relationships" r:id="Rd1f0fb00cdee4681"/>
  </p:notesMasterIdLst>
  <p:sldIdLst>
    <p:sldId xmlns:r="http://schemas.openxmlformats.org/officeDocument/2006/relationships" id="256" r:id="R4c62f15ef86748b4"/>
    <p:sldId xmlns:r="http://schemas.openxmlformats.org/officeDocument/2006/relationships" id="257" r:id="R944f8414769d4466"/>
    <p:sldId xmlns:r="http://schemas.openxmlformats.org/officeDocument/2006/relationships" id="258" r:id="Rcf15fc3e4ca246d8"/>
    <p:sldId xmlns:r="http://schemas.openxmlformats.org/officeDocument/2006/relationships" id="259" r:id="Rf6c71d440f5148da"/>
    <p:sldId xmlns:r="http://schemas.openxmlformats.org/officeDocument/2006/relationships" id="260" r:id="Rc21ddd96426c49b8"/>
    <p:sldId xmlns:r="http://schemas.openxmlformats.org/officeDocument/2006/relationships" id="261" r:id="Rf0ac9c6b7ef04449"/>
    <p:sldId xmlns:r="http://schemas.openxmlformats.org/officeDocument/2006/relationships" id="262" r:id="Ra1da374523a744dc"/>
    <p:sldId xmlns:r="http://schemas.openxmlformats.org/officeDocument/2006/relationships" id="263" r:id="R7a80865f778445aa"/>
    <p:sldId xmlns:r="http://schemas.openxmlformats.org/officeDocument/2006/relationships" id="264" r:id="R8e9572bf5c944d76"/>
    <p:sldId xmlns:r="http://schemas.openxmlformats.org/officeDocument/2006/relationships" id="265" r:id="R4f8716e3e7eb4053"/>
    <p:sldId xmlns:r="http://schemas.openxmlformats.org/officeDocument/2006/relationships" id="266" r:id="Rc330e04af59647a2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b51ce00704d41f2" Type="http://schemas.openxmlformats.org/officeDocument/2006/relationships/tableStyles" Target="tableStyles.xml"/><Relationship Id="R4c62f15ef86748b4" Type="http://schemas.openxmlformats.org/officeDocument/2006/relationships/slide" Target="slides/slide1.xml"/><Relationship Id="R4f8716e3e7eb4053" Type="http://schemas.openxmlformats.org/officeDocument/2006/relationships/slide" Target="slides/slide10.xml"/><Relationship Id="R76428fbf123d4055" Type="http://schemas.openxmlformats.org/officeDocument/2006/relationships/theme" Target="theme/theme1.xml"/><Relationship Id="R7a80865f778445aa" Type="http://schemas.openxmlformats.org/officeDocument/2006/relationships/slide" Target="slides/slide8.xml"/><Relationship Id="R8e9572bf5c944d76" Type="http://schemas.openxmlformats.org/officeDocument/2006/relationships/slide" Target="slides/slide9.xml"/><Relationship Id="R944f8414769d4466" Type="http://schemas.openxmlformats.org/officeDocument/2006/relationships/slide" Target="slides/slide2.xml"/><Relationship Id="Ra1da374523a744dc" Type="http://schemas.openxmlformats.org/officeDocument/2006/relationships/slide" Target="slides/slide7.xml"/><Relationship Id="Rc21ddd96426c49b8" Type="http://schemas.openxmlformats.org/officeDocument/2006/relationships/slide" Target="slides/slide5.xml"/><Relationship Id="Rc330e04af59647a2" Type="http://schemas.openxmlformats.org/officeDocument/2006/relationships/slide" Target="slides/slide11.xml"/><Relationship Id="Rcf15fc3e4ca246d8" Type="http://schemas.openxmlformats.org/officeDocument/2006/relationships/slide" Target="slides/slide3.xml"/><Relationship Id="Rd1f0fb00cdee4681" Type="http://schemas.openxmlformats.org/officeDocument/2006/relationships/notesMaster" Target="notesMasters/notesMaster1.xml"/><Relationship Id="Rdf919a2c14154b5f" Type="http://schemas.openxmlformats.org/officeDocument/2006/relationships/presProps" Target="presProps.xml"/><Relationship Id="Re79e2366aaeb4d4b" Type="http://schemas.openxmlformats.org/officeDocument/2006/relationships/slideMaster" Target="slideMasters/slideMaster1.xml"/><Relationship Id="Rf0ac9c6b7ef04449" Type="http://schemas.openxmlformats.org/officeDocument/2006/relationships/slide" Target="slides/slide6.xml"/><Relationship Id="Rf6c71d440f5148da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8e67d32de3374a01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716fff9854549aa" Type="http://schemas.openxmlformats.org/officeDocument/2006/relationships/notesMaster" Target="../notesMasters/notesMaster1.xml"/><Relationship Id="Ree8812592f2b4bc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058667e8e654cab" Type="http://schemas.openxmlformats.org/officeDocument/2006/relationships/notesMaster" Target="../notesMasters/notesMaster1.xml"/><Relationship Id="R9857b77fe52e4ca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9eb6d86430143a9" Type="http://schemas.openxmlformats.org/officeDocument/2006/relationships/slide" Target="../slides/slide3.xml"/><Relationship Id="R4ea97c6fbebe451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61cb2f0fb4a4aa8" Type="http://schemas.openxmlformats.org/officeDocument/2006/relationships/slide" Target="../slides/slide4.xml"/><Relationship Id="R9c0acb10ebb54816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23adf8fb2b44b1c" Type="http://schemas.openxmlformats.org/officeDocument/2006/relationships/notesMaster" Target="../notesMasters/notesMaster1.xml"/><Relationship Id="Rd9081ef80cd34bb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582042370c04eaa" Type="http://schemas.openxmlformats.org/officeDocument/2006/relationships/notesMaster" Target="../notesMasters/notesMaster1.xml"/><Relationship Id="R6cb24766a152437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a9f890c700eb4334" Type="http://schemas.openxmlformats.org/officeDocument/2006/relationships/slide" Target="../slides/slide7.xml"/><Relationship Id="Rbd60dba5ec064e4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889ff8f2bf940bf" Type="http://schemas.openxmlformats.org/officeDocument/2006/relationships/notesMaster" Target="../notesMasters/notesMaster1.xml"/><Relationship Id="R731224315a5f4e1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9d495df5cd84444" Type="http://schemas.openxmlformats.org/officeDocument/2006/relationships/slide" Target="../slides/slide9.xml"/><Relationship Id="Rb87c8b4b87654329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6c3b018fdf24a63" Type="http://schemas.openxmlformats.org/officeDocument/2006/relationships/notesMaster" Target="../notesMasters/notesMaster1.xml"/><Relationship Id="Rde479dac52e146a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a733ee55226d4c89" Type="http://schemas.openxmlformats.org/officeDocument/2006/relationships/slide" Target="../slides/slide11.xml"/><Relationship Id="Rfc931bcce44443e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cf7a6bbe87489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82bf14f4b344ec3" Type="http://schemas.openxmlformats.org/officeDocument/2006/relationships/theme" Target="theme/theme2.xml"/><Relationship Id="Rf90e4c88e42b41e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0e4c88e42b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e2ca71419584cd6" Type="http://schemas.openxmlformats.org/officeDocument/2006/relationships/slideLayout" Target="../slideLayouts/slideLayout1.xml"/><Relationship Id="R664a9714f647414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c10ee5ac10384763" Type="http://schemas.openxmlformats.org/officeDocument/2006/relationships/notesSlide" Target="../notesSlides/notesSlide2.xml"/><Relationship Id="Rfa2501c7dce14ede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ed6f7a5e9194ee2" Type="http://schemas.openxmlformats.org/officeDocument/2006/relationships/slideLayout" Target="../slideLayouts/slideLayout1.xml"/><Relationship Id="R5887e85ca7744aa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24551dfce6d4ec4" Type="http://schemas.openxmlformats.org/officeDocument/2006/relationships/notesSlide" Target="../notesSlides/notesSlide4.xml"/><Relationship Id="Re623d58c100042f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8591849f1044fc9" Type="http://schemas.openxmlformats.org/officeDocument/2006/relationships/slideLayout" Target="../slideLayouts/slideLayout1.xml"/><Relationship Id="Rb26be2717d09436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e8d8495525a4d7e" Type="http://schemas.openxmlformats.org/officeDocument/2006/relationships/slideLayout" Target="../slideLayouts/slideLayout1.xml"/><Relationship Id="Rb82f7f07751c480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a476b07d71b4fbe" Type="http://schemas.openxmlformats.org/officeDocument/2006/relationships/notesSlide" Target="../notesSlides/notesSlide7.xml"/><Relationship Id="R8c75632a357b4d70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4071f5d978a3415c" Type="http://schemas.openxmlformats.org/officeDocument/2006/relationships/slideLayout" Target="../slideLayouts/slideLayout1.xml"/><Relationship Id="Rf0c21055379f475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abb6015bf9d4551" Type="http://schemas.openxmlformats.org/officeDocument/2006/relationships/notesSlide" Target="../notesSlides/notesSlide9.xml"/><Relationship Id="Rcc6d52f83a06440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93eddd53639143ba" Type="http://schemas.openxmlformats.org/officeDocument/2006/relationships/slideLayout" Target="../slideLayouts/slideLayout1.xml"/><Relationship Id="Rbb8e6e42c2e8403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4d408753ef54e3e" Type="http://schemas.openxmlformats.org/officeDocument/2006/relationships/slideLayout" Target="../slideLayouts/slideLayout1.xml"/><Relationship Id="Rf612b41c4e204572" Type="http://schemas.openxmlformats.org/officeDocument/2006/relationships/notesSlide" Target="../notesSlides/notesSlide1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8A663-9CF2-404E-BDBD-905FD6FA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78EDA-5856-491E-B030-6190A1C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B5FD"/>
                </a:solidFill>
              </a:defRPr>
            </a:pPr>
            <a:r>
              <a:rPr sz="1350" b="1">
                <a:solidFill>
                  <a:srgbClr val="C4B5FD"/>
                </a:solidFill>
              </a:rPr>
              <a:t>SISTEM REKRUTMEN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9DEAE-DA6E-4FA2-BE01-6CB5F813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723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Rekrutmen yang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terkendali, terukur,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dan dapat dipercaya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F4373-B368-4274-90C4-255DBF03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DD6FE"/>
                </a:solidFill>
              </a:defRPr>
            </a:pPr>
            <a:r>
              <a:rPr sz="1800" b="0">
                <a:solidFill>
                  <a:srgbClr val="DDD6FE"/>
                </a:solidFill>
              </a:rPr>
              <a:t>Platform terintegrasi untuk mengelola pelamar, tahapan seleksi, keputusan, audit, dan insight operasional.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79625-C97C-421A-8CD3-E2EB157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28800"/>
            <a:ext cx="2381250" cy="45720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312E81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C2C9-B726-4533-A1C3-40F43456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4312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A5B4FC"/>
                </a:solidFill>
              </a:defRPr>
            </a:pPr>
            <a:r>
              <a:rPr sz="3600" b="1">
                <a:solidFill>
                  <a:srgbClr val="A5B4F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4B940-E8A4-44DF-BF6A-56D1C7C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Satu data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pelamar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C68AD-D630-4FF4-8DF6-BDBC8731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5B4FC"/>
                </a:solidFill>
              </a:defRPr>
            </a:pPr>
            <a:r>
              <a:rPr sz="2850" b="1">
                <a:solidFill>
                  <a:srgbClr val="A5B4F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19BE2-CE76-4B64-AB2D-63FC7E76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481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Satu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6247A-3E80-41DB-BC50-8617E8AD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5B4FC"/>
                </a:solidFill>
              </a:defRPr>
            </a:pPr>
            <a:r>
              <a:rPr sz="2850" b="1">
                <a:solidFill>
                  <a:srgbClr val="A5B4F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15EFC-1403-40E6-82FC-AE272327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Satu sumber keputusan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2208F-C712-42E0-BD5A-9DC5B0A6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953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B4FC"/>
                </a:solidFill>
              </a:defRPr>
            </a:pPr>
            <a:r>
              <a:rPr sz="1050" b="1">
                <a:solidFill>
                  <a:srgbClr val="A5B4FC"/>
                </a:solidFill>
              </a:rPr>
              <a:t>Presentasi Sistem • 2026</a:t>
            </a:r>
          </a:p>
        </p:txBody>
      </p:sp>
    </p:spTree>
    <p:extLst>
      <p:ext uri="{BB962C8B-B14F-4D97-AF65-F5344CB8AC3E}">
        <p14:creationId xmlns:p14="http://schemas.microsoft.com/office/powerpoint/2010/main" val="2081046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" name="Rectangle 2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8CAC8-C82E-453F-9F35-5C979154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PERMINTAAN TIM REKRUTMEN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0C228-A7C1-48AC-88B8-EE1044B6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Tim Rekrutmen membutuhkan proses yang lebih mudah dipantau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4D1A7-8DC2-43BE-9B6B-9CCDF308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0494-CC10-425D-9ADA-3B1FBCD9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Monitoring pelamar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CF2C3-697A-4AA1-AD5E-6661C70F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43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Data pelamar harus dapat dipantau dari masuk hingga keputusan akhir dalam satu sistem.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1D442-1C54-4ABD-B20B-6E09F73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95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AAE52-1D56-477D-9BD7-98AE622A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48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Blast WhatsApp ringkas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AA2673-71AA-4BC0-856C-76CA9970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43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Tim membutuhkan pengiriman undangan massal tanpa menghubungi kandidat satu per satu.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76A3F-C2A2-4EB9-BEE0-EF3B55F3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95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6ED56-0F75-4E92-86A7-56244A9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48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Pengisian mandiri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E54C5-6421-4CD2-9806-863282D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43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Kandidat perlu mengisi dan melengkapi data pribadinya sendiri melalui tautan yang aman.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9B40F-4DCC-4E40-8823-47D91F2E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956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F5C80-58EC-4418-B614-8AD6B23B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480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Tindak lanjut terlihat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D84E3-22EC-4576-AD8B-0E724669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43375"/>
            <a:ext cx="2266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Status pengisian, jadwal, hasil seleksi, dan pekerjaan tertunda harus mudah diketahui.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4AE27-FA2B-4CA0-80AE-0601631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1436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Permintaan utamanya: pekerjaan administrasi lebih ringkas, sementara setiap kandidat tetap terlihat dan dapat ditindaklanjuti.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A8029-AEE8-4B2B-9AA2-98B7593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221FA-8118-4006-BDF6-C3843E2E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3705B-228B-4E72-BE10-D5DE36DA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6156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3771E-93F8-457C-8198-403217F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TUJUAN SISTEM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954CC-58EF-4C07-AEA0-FEB330A7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Menghubungkan komunikasi, data kandidat, dan keputusan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88C5B-A5A8-4256-B857-AFC9B5E8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52750"/>
            <a:ext cx="490537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BF8D1-A710-4B41-A2E8-FC223D2F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19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E11D48"/>
                </a:solidFill>
              </a:defRPr>
            </a:pPr>
            <a:r>
              <a:rPr sz="2100" b="1">
                <a:solidFill>
                  <a:srgbClr val="E11D48"/>
                </a:solidFill>
              </a:rPr>
              <a:t>Sebelum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2999D-CADD-4F1A-8F22-C1722374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49CA0-A73C-410E-ABD1-2313B0E9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29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Pesan kandidat dikirim satu per satu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1C21D-6465-4C91-B817-9B3A190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082AD-89AA-40CC-883B-8D0D9EF1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005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Data kandidat dikumpulkan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8CF05-6FA0-4A2F-9B93-5B5BA23E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02B9B-77D0-46DB-9F03-911DE935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Status kandidat sulit dipantau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8BDCA-DF38-4AC2-8619-238B5F04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005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7C3AED"/>
                </a:solidFill>
              </a:defRPr>
            </a:pPr>
            <a:r>
              <a:rPr sz="39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54B43-91D4-4632-A8A9-4F70681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52750"/>
            <a:ext cx="490537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1B5B9-5BEE-44A0-AF19-222C4799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194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4F46E5"/>
                </a:solidFill>
              </a:defRPr>
            </a:pPr>
            <a:r>
              <a:rPr sz="2100" b="1">
                <a:solidFill>
                  <a:srgbClr val="4F46E5"/>
                </a:solidFill>
              </a:rPr>
              <a:t>Dengan sistem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FB8E0-1E9E-4EF0-ACB2-D118629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07FBC-81E3-4303-98F1-60F324B0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29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Blast WhatsApp dari daftar kandidat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07DDE-E458-44B1-9394-3E066013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D5A14-67C7-4510-8D55-2AE070D6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005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Kandidat mengisi data secara mandiri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D7D43-20FA-41EC-9A55-BB949DC0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0B3E3-EB3D-44AE-8F4A-183756E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7205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Progress dan tindak lanjut terpantau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6A49E-118D-4284-949A-30826B5D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E03F5-D508-48BD-9DDE-24AAC9C9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DDD3C-6720-48E2-BFB5-B3B7F56F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3692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8" name="Rectangle 3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A7DEB-FDCA-4569-82A1-95621975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CARA KERJA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DC484-CABA-44C4-9379-49718C3D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Komunikasi dan data kandidat masuk ke satu alur kerja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AB836-B551-4310-9653-03576789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22D6C-5386-4F40-8C3A-D6AD6D8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29A0D-C0C3-4A12-A35D-466701B7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A18E6-0224-4208-94DC-B192ED8C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57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Siapkan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kandidat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E8723-C9DA-48E0-AF90-3116E235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57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12D71-6B04-401E-B2FB-EAB684E3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2885C-3003-448F-BDCF-83022DBB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86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E0964-613D-40E8-AA21-9576095A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Pilih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7C9EA-20E0-4879-A733-4C376C66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57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C1221-9301-4F3B-81A5-9A2563AC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93764-F1C6-4760-BCA2-E6B21CB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86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8EA63-39B0-4C8A-84B5-46ABDC4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Blast WA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C6416-985D-492A-B716-7E0E87CD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57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B73F-DF33-47EF-BB52-D7797F8E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95C30-673D-4983-9D6F-5B513571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B491F-2586-4A72-B1EE-87B90B3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Isi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8715F-1353-486E-851B-C0A47A07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57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1C747-AA39-4233-8602-6CECB46C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AB44D-B9E3-4EC1-8571-718AC9AD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B0789-78F9-4CF8-B829-A38799C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57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Pantau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82831-AAE2-4110-BA8E-B55A438B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857625"/>
            <a:ext cx="266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7C3AED"/>
                </a:solidFill>
              </a:defRPr>
            </a:pPr>
            <a:r>
              <a:rPr sz="2025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AA83B-01B4-4FAB-9FE0-CEF5E36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33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6C820E-D7D1-45E0-8B59-319586E3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86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286E65-ED25-4EC5-891B-CE6CB222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57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Proses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seleksi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01F69-3BC3-43C6-A2A4-D3C96C3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3375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8F9FC-E974-49E4-AFFB-43C32FD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486150"/>
            <a:ext cx="1123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42818-C369-4A61-B176-792F5F0A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57625"/>
            <a:ext cx="1200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Keputusan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akhir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1FADA-9DCC-4240-A9F7-915BFD31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8162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Pesan dikirim melalui antrean; kandidat mengisi data sendiri; Tim Rekrutmen memantau kelengkapan dan melanjutkan seleksi.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3877A-9778-491F-9CAE-D88B09F6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F879E-2028-419B-8649-F4316874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D4FB4-D4E4-49A5-99D1-EDAEE0F1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1993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45EBF-EFDE-4219-A947-4A4AF667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KAPABILITAS INTI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690D2-277A-4B05-A9F8-B4F89944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Sistem menerjemahkan kebutuhan Tim Rekrutmen menjadi alur kerja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1C099-73D6-4EC4-8AC0-C79AC120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05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F68EE-673F-4D82-B298-DAD3D0B5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05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Monitoring kandidat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17F17-4F3F-455D-B6AF-0C598441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76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Data, kelengkapan formulir, tahapan seleksi, dan status akhir terlihat dalam satu tempat.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77230C-4D4C-4FFC-ADAB-E49DFDC0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05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55780-1005-49CE-91F9-56A2CC9D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05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Blast WhatsApp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129B4-D035-47F0-B1AB-4F77956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76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Kirim pesan massal kepada kandidat terpilih melalui queue agar layar tetap responsif.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6DDD9-32EC-4D3C-89AC-F4A58D3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4003F-6F9D-4CDC-B2E0-B73763FC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052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Portal kandidat mandiri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D6F6-590E-4617-9FBA-DBF72080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76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Token dan tautan aman memungkinkan kandidat mengisi data serta mengunggah dokumen sendiri.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345D4-417C-44D7-ABD2-9BEE863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052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1D21B-D3ED-4AFC-86A1-935DB1AD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Seleksi terintegrasi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DAD84-16E4-4579-A33A-E0DA2BB2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76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Jadwal tes, kehadiran, interview, review management, dan offering tercatat berurutan.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40066-0FC1-4413-8DCF-F6CBB66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2A01B-0959-47CB-9409-FF24B4B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05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Audit &amp; kontrol akses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6AD67-655C-442D-8B3B-F58BCD9C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76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Akses lintas perusahaan, export, download, dan perubahan data dibatasi serta diaudit.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9045B-2CFB-4899-ACC2-205FC340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054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38114-FA06-45F1-9415-E090B078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05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Dashboard tindakan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133E3-C03C-4EB1-96A9-9ABE88A1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6769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Pipeline, kandidat tertunda, tren, konversi, dan pekerjaan prioritas siap ditindaklanjuti.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01C7F4-4CDA-4567-A907-30A96E1F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47F76-CB9E-4828-AC87-0858053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EDF39-B6D5-41F2-986F-2802CBC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1592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5" name="Rectangle 2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B5FCC7-6E82-4F8C-8237-0317C6C0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NILAI BAGI PENGGUNA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8E72-B8D2-436C-83C5-F35FE322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Setiap peran melihat informasi yang relevan untuk pekerjaannya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6F5B5-F7B7-460F-AD2F-BCF77D3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00D75-0516-47E1-971A-D7FF86C4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95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68952-B566-4332-AC45-06B9A86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HR /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6E32D-AC67-4CBD-9BFE-87350E5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Mengirim blast WA, memantau pengisian data, mengelola jadwal, hasil, dan tindak lanjut.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3E5FE-B233-4A7D-AEA2-DAC576E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46E5"/>
                </a:solidFill>
              </a:defRPr>
            </a:pPr>
            <a:r>
              <a:rPr sz="1275" b="1">
                <a:solidFill>
                  <a:srgbClr val="4F46E5"/>
                </a:solidFill>
              </a:rPr>
              <a:t>Kecepatan operasional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CA43F-EDD7-43BD-BECC-0F591A82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5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0F56E-6F40-42ED-A5AA-0BDAEC7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5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A8F76-9054-4B4E-9F96-11A5344B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76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Manajemen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7540E-A4B2-4FD6-AFBF-2741B1B8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95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Melihat kesehatan pipeline, konversi, keputusan akhir, dan pekerjaan yang tertunda.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3D4F6-87D5-4F17-8997-03E270A3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29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Kualitas keputusan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320C-7D42-4593-AEA6-34060FF5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3257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2AE79-8D35-4B8D-98A4-F4D40C56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95625"/>
            <a:ext cx="3257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8BA7D-5ECE-4E47-97C9-3EF5645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7662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Kandidat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1C4A-7100-4612-9507-909F5DF9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714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Mengisi data pribadi dan mengunggah dokumen sendiri melalui tautan dengan token aman.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F0D72-2975-4C4C-813B-E443675C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292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Transparansi proses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A7BB9-7A87-41A1-B012-30F23BAD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F4659-B6CB-4DDC-ACB3-FA7960A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1CF23-214F-4292-B067-6B38EBC4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1195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EA09D-55BF-47B1-B62C-1B84B9F6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KEAMANAN &amp; TATA KELOLA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5124F-B78D-4247-B7E0-4D51CF2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Kepercayaan dibangun melalui kontrol, bukan asumsi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8D40A-AA72-40B1-AF48-A82748B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D5B12-26B1-4FC1-AD39-A023730D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Company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48A48-53FE-44F3-9479-1728C39A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19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Akses kandidat dibatasi sesuai perusahaan akun.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F7620-1871-4D0F-B3BE-3D2FA8CF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6F272-DA37-4CDD-B9AA-09B24EE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95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Permission khusus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9959-00C2-4C22-A426-E9681EF4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577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Operasi sensitif seperti report, export, dan download dibatasi.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E17A3-7D35-414D-BA3F-91455CC6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34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D64EB-AD47-47E3-8037-DDF33637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33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Token terlindungi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7B64B-8704-4D67-8E4E-B8AB198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6959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Token kandidat disimpan terenkripsi dan memiliki masa berlaku.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2620F-DCE9-4C28-AC14-CA95987C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478D5-68D2-41B2-86FF-749BFD6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Audit recruitment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8A025-261E-4543-96A1-BDB5B60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194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Perubahan data, raw query, download, dan export meninggalkan jejak.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C211A-D2FA-4852-AD5F-69FBAC55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BFFC5-45E7-4844-B2B0-7BFAC33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Workflow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8E77E-E832-475B-B441-BE655DF8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577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Perpindahan tahap dicegah jika tidak sesuai urutan proses.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E49F5-7603-435C-979D-29CAD10E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34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59669"/>
                </a:solidFill>
              </a:defRPr>
            </a:pPr>
            <a:r>
              <a:rPr sz="1875" b="1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811B3-82FE-4A9F-9FC0-6C164C5A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334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File protection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9385A-190F-4995-B939-4CB26658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6959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Validasi file, endpoint download terkontrol, dan dukungan malware scanning.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82A37-A0B8-4680-AC37-BE8ED34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4940B-F7BA-49CE-AF8F-C0A62EC1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D7528-1728-4129-A329-2A1DD085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30388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6A9E2-1F10-4F0D-B8A0-2FB8013B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INSIGHT YANG BERNILAI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4A778-8068-435E-B25C-97E84D41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Dashboard mengarahkan perhatian, bukan sekadar menampilkan angka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B2B79-1456-44EC-A3E8-E32437BF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05125"/>
            <a:ext cx="6477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E1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6C5BF-9B42-4AED-B764-306BCA6F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908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4B5FD"/>
                </a:solidFill>
              </a:defRPr>
            </a:pPr>
            <a:r>
              <a:rPr sz="1875" b="1">
                <a:solidFill>
                  <a:srgbClr val="C4B5FD"/>
                </a:solidFill>
              </a:rPr>
              <a:t>Pipeline recruitment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30F1B-FE58-45D2-AEF2-E2DDCA34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Total pelamar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7C4C6-26BE-4AD3-AB09-9D2F2CC0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602AC-CC57-44BE-9399-EFB1D32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Basis kandidat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1791F-2FB6-40D2-A9BD-FA6ED8BF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Masuk interview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89647-F838-4842-A13D-1A964B97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05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AF211-9755-4CEA-950B-5A75EC37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Progress seleksi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2C9E2-1503-49C4-9259-86899ADB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52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Kandidat lolos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FDF12-07AD-4293-845E-3B4063F0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0530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E9DCC-E2B8-4295-91A6-379B6D30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5B4FC"/>
                </a:solidFill>
              </a:defRPr>
            </a:pPr>
            <a:r>
              <a:rPr sz="1050" b="0">
                <a:solidFill>
                  <a:srgbClr val="A5B4FC"/>
                </a:solidFill>
              </a:rPr>
              <a:t>Conversion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33776-2EFB-4E43-AC22-EA669DDC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F46E5"/>
                </a:solidFill>
              </a:defRPr>
            </a:pPr>
            <a:r>
              <a:rPr sz="1950" b="1">
                <a:solidFill>
                  <a:srgbClr val="4F46E5"/>
                </a:solidFill>
              </a:rPr>
              <a:t>Pertanyaan yang dijawab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97034-186C-4F5C-A059-31BE06DE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90432-4464-4BEF-B997-BEDF9780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Di tahap mana kandidat menumpuk?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B2B57-2A8B-4E69-BAC1-A0D2CB8C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30E50-F447-42D1-AF98-12D583C9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6242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Berapa kandidat yang mencapai keputusan akhir?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068B70-3020-45BD-A301-4B3A0F45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B43BF-43A1-4DB3-8038-AD842B42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81550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Apa yang harus ditindaklanjuti hari ini?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2A8B3-C555-43C2-816C-3EAC8183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7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4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2C61ED-BCDC-4A90-9DDF-9E1A2CA6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0067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Perusahaan mana yang memiliki kebutuhan terbesar?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B9409-8BB8-451F-9289-C74123A8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A95B0-92C9-443D-9B6A-BF577A7F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007EBE-E8AB-4DCE-BDB1-2EDAD42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11378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6" name="Rectangle 3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5546C-AE8D-4750-AC89-0E5A97A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KETAHANAN OPERASIONAL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60F2E-75FE-4995-8406-F6A5E7B7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Negative flow diperlakukan sebagai bagian dari desain sistem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F4425-4793-42AE-971B-9BE1286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RISIKO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BD37D-241C-4B09-A06A-29F570A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RESPONS SISTEM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F306A-E926-4667-9DB2-2137EEAE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433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ED7D5-9F3E-431F-B191-137DC24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861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Akses lintas perusahaan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F0D9F-6D71-47FD-9BBD-985D1B7E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7B35-9864-4AFD-87CB-F14A4DA6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company scope dan 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54CB8-3B26-4B2B-9644-AF478C7C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8F1AF-9593-409B-A80D-D5A5EA26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Tahap dilewati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406F4-83AF-4DA9-B511-676040D0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385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FC4FB-8D44-4957-8BAC-4A595D77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38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validasi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2E31A-DB0B-4BA7-910D-B40BDD4E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48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8E6E5-59BD-4543-A895-EE8A4CD9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910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Queue gagal / tertunda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1BB7D-661C-47A3-8C66-40E9518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910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9E6D1-3EF1-49EA-8F9C-6606CFE3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910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Dicatat dan ditampilkan sebagai perhatian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B7BEF-E0E7-42DD-B514-0C31C986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00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9773D-2897-4354-8623-B07FF0F1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434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File berbahaya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DC7A6-1403-4545-BB50-CF1B30A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434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4FD65-2F58-46E6-9CBF-E3DA8F1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434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Divalidasi dan disiapkan untuk scanning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EF175-D49D-436A-8E11-CC03DD6D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DF082-D70E-4F3F-B504-5CE29A45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959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Export tanpa hak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DDB1F-7C4C-466F-B69D-7ECD2CC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9592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C2B4E-F1B9-450C-AAC9-1EE0CAF3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959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Ditolak oleh permission khusus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27470-1FFA-4153-9509-ED458F1C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505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C325C-09B9-4399-AB8C-3846468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483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Perubahan data sensitif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EB1DC-3CDD-40F2-9F28-07406B2D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48375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F7930-9815-4EE0-8456-DF474F20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483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Dicatat dalam audit recruitment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1394C9-55F9-428F-9414-9394DAB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8313D-1FC7-4A99-BF9F-A1D98F3D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6148F8-CAA8-4039-A063-7DA3058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62859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5" name="Rectangle 2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Rectangle 2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AFC25-2365-4E95-9850-72647204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4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F46E5"/>
                </a:solidFill>
              </a:defRPr>
            </a:pPr>
            <a:r>
              <a:rPr sz="1125" b="1">
                <a:solidFill>
                  <a:srgbClr val="4F46E5"/>
                </a:solidFill>
              </a:rPr>
              <a:t>DAMPAK YANG DIHARAPKAN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DFAC6-FC96-4D6C-A090-9025349A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049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172A"/>
                </a:solidFill>
              </a:defRPr>
            </a:pPr>
            <a:r>
              <a:rPr sz="3600" b="1">
                <a:solidFill>
                  <a:srgbClr val="0F172A"/>
                </a:solidFill>
              </a:rPr>
              <a:t>Pekerjaan lebih ringkas tanpa kehilangan kendali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8B082-B3A5-4F63-B107-2295F99F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B777A-4FFA-48E6-A3FF-55A0452E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98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cepat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88DDA-A152-45CC-B4DF-F996EF7A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Blast WA dan pengumpulan data tidak lagi dikerjakan satu per satu.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1C2E5-C5C6-4B19-AD75-1F9A23DB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909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44E18-48ED-4474-8DD2-FAC4FC62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909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konsisten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63851-1BD7-41C8-843A-368894D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909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Setiap kandidat bergerak melalui tahapan dan aturan yang sama.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15845-5B16-410B-B70D-FADD24E1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8A510-B79A-44B8-B685-D3C6EA83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719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aman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81A6F-755E-4498-BA99-66E54388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Akses, token, dokumen, serta operasi sensitif dikontrol.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4F30-19D9-4159-ABC8-8E3E80C7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5302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D4480-388D-439B-8715-50A361B0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530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terukur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7D19E-1A46-48C7-B298-EEE13C61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5302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Progress pengisian dan pipeline memberi dasar tindakan harian.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F4397-9AFB-4A61-B877-D29CA86A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1E9DB-C5ED-4C80-B2DB-162C42CA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3407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Lebih skalabel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96F6D-6972-489E-8548-98B9C254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34075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Queue, pagination, dan struktur multi-perusahaan mendukung pertumbuhan.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123F2E-9472-4FE6-8470-2F062297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39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D83FB-249A-461D-82CA-560B2126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296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SISTEM REKRUTMEN TERINTEGRASI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D40C3-0E7B-4C79-9EA0-55AE1FB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2961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30603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1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" name="Rectangle 1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98B3A-D8E7-424E-9A4C-984C7FC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4B5FD"/>
                </a:solidFill>
              </a:defRPr>
            </a:pPr>
            <a:r>
              <a:rPr sz="1200" b="1">
                <a:solidFill>
                  <a:srgbClr val="C4B5FD"/>
                </a:solidFill>
              </a:rPr>
              <a:t>KESIMPULAN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69BD-71BE-4A69-A7D3-2D5FD900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43125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Komunikasi lebih ringkas.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Data diisi mandiri.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Kandidat tetap terpantau.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0773B-C2C6-4DBF-AA46-676C819D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14875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DD6FE"/>
                </a:solidFill>
              </a:defRPr>
            </a:pPr>
            <a:r>
              <a:rPr sz="1800" b="0">
                <a:solidFill>
                  <a:srgbClr val="DDD6FE"/>
                </a:solidFill>
              </a:rPr>
              <a:t>Sistem ini menjawab kebutuhan Tim Rekrutmen: mengirim informasi secara massal, memantau data pelamar, memberi ruang kandidat mengisi data sendiri, dan menjaga seluruh proses seleksi dapat ditindaklanjuti.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E1588-4EE0-43BC-8C9C-90C6560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912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F2D12-5C88-4B62-BBC3-52893C7E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4293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5B4FC"/>
                </a:solidFill>
              </a:defRPr>
            </a:pPr>
            <a:r>
              <a:rPr sz="1425" b="1">
                <a:solidFill>
                  <a:srgbClr val="A5B4FC"/>
                </a:solidFill>
              </a:rPr>
              <a:t>Gunakan dashboard dan audit recruitment sebagai dasar evaluasi rutin, pembagian prioritas, dan peningkatan proses seleksi.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D1EA0-1AB2-441F-99EE-5D4EA2B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95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A5B4FC"/>
                </a:solidFill>
              </a:defRPr>
            </a:pPr>
            <a:r>
              <a:rPr sz="975" b="1">
                <a:solidFill>
                  <a:srgbClr val="A5B4F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0320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2026-08-13T08:10:49.6390000Z</dcterms:created>
  <dcterms:modified xsi:type="dcterms:W3CDTF">2026-08-13T08:10:49.6390000Z</dcterms:modified>
</coreProperties>
</file>